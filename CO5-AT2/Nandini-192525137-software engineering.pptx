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4"/>
  </p:normalViewPr>
  <p:slideViewPr>
    <p:cSldViewPr snapToGrid="0" snapToObjects="1">
      <p:cViewPr varScale="1">
        <p:scale>
          <a:sx n="112" d="100"/>
          <a:sy n="112" d="100"/>
        </p:scale>
        <p:origin x="6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iot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89320" y="0"/>
            <a:ext cx="502920" cy="6858000"/>
          </a:xfrm>
          <a:prstGeom prst="rect">
            <a:avLst/>
          </a:prstGeom>
          <a:solidFill>
            <a:srgbClr val="0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3035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8FCFF"/>
                </a:solidFill>
              </a:defRPr>
            </a:pPr>
            <a:r>
              <a:t>Industrial</a:t>
            </a:r>
            <a:br/>
            <a:r>
              <a:t>Internet of Things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D2E1EB"/>
                </a:solidFill>
              </a:defRPr>
            </a:pPr>
            <a:r>
              <a:t>Smart • Connected • Data-Driven Industry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731520" cy="347472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8130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8182A"/>
                </a:solidFill>
              </a:defRPr>
            </a:pPr>
            <a:r>
              <a:t>IIoT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3794760"/>
            <a:ext cx="1508760" cy="347472"/>
          </a:xfrm>
          <a:prstGeom prst="round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381304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8182A"/>
                </a:solidFill>
              </a:defRPr>
            </a:pPr>
            <a:r>
              <a:t>SMART FACTORY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8FCFF"/>
                </a:solidFill>
              </a:defRPr>
            </a:pPr>
            <a:r>
              <a:rPr dirty="0"/>
              <a:t>Presented by: Boyapati Nandini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73952"/>
            <a:ext cx="3566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F8FCFF"/>
                </a:solidFill>
              </a:defRPr>
            </a:pPr>
            <a:r>
              <a:t>Image: IIoT-enabled factory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8182A"/>
                </a:solidFill>
              </a:defRPr>
            </a:pPr>
            <a:r>
              <a:t>Industrial Internet of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263644"/>
                </a:solidFill>
              </a:defRPr>
            </a:pPr>
            <a:r>
              <a:rPr dirty="0" err="1"/>
              <a:t>IIoT</a:t>
            </a:r>
            <a:r>
              <a:rPr dirty="0"/>
              <a:t> connects industrial machines, sensors, software and people through networks to collect and analyze real-time operational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603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560320"/>
            <a:ext cx="64008" cy="132588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724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127248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Industrial machines + sensors + people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603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560320"/>
            <a:ext cx="64008" cy="1325880"/>
          </a:xfrm>
          <a:prstGeom prst="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2724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127248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Real-time operational data becomes useful information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5603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2560320"/>
            <a:ext cx="64008" cy="1325880"/>
          </a:xfrm>
          <a:prstGeom prst="rect">
            <a:avLst/>
          </a:prstGeom>
          <a:solidFill>
            <a:srgbClr val="F5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724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127248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Automation, reliability, safety and decisions</a:t>
            </a:r>
          </a:p>
        </p:txBody>
      </p:sp>
      <p:pic>
        <p:nvPicPr>
          <p:cNvPr id="18" name="Picture 17" descr="iiot_squ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251960"/>
            <a:ext cx="3749039" cy="1828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09160" y="4709160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8182A"/>
                </a:solidFill>
              </a:defRPr>
            </a:pPr>
            <a:r>
              <a:t>IIoT supports smart manufacturing and Industry 4.0.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5532120"/>
            <a:ext cx="1600200" cy="347472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5550407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8182A"/>
                </a:solidFill>
              </a:defRPr>
            </a:pPr>
            <a:r>
              <a:t>REAL-TIME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5532120"/>
            <a:ext cx="1325880" cy="347472"/>
          </a:xfrm>
          <a:prstGeom prst="round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5550407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8182A"/>
                </a:solidFill>
              </a:defRPr>
            </a:pPr>
            <a:r>
              <a:t>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828E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8182A"/>
                </a:solidFill>
              </a:defRPr>
            </a:pPr>
            <a:r>
              <a:t>What is IIoT?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800600" y="2057400"/>
            <a:ext cx="2468880" cy="2468880"/>
          </a:xfrm>
          <a:prstGeom prst="ellipse">
            <a:avLst/>
          </a:prstGeom>
          <a:solidFill>
            <a:srgbClr val="0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00600" y="2057400"/>
            <a:ext cx="246888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8FCFF"/>
                </a:solidFill>
              </a:defRPr>
            </a:pPr>
            <a:r>
              <a:t>IIoT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554480"/>
            <a:ext cx="777240" cy="777240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8182A"/>
                </a:solidFill>
              </a:defRPr>
            </a:pPr>
            <a:r>
              <a:t>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8182A"/>
                </a:solidFill>
              </a:defRPr>
            </a:pPr>
            <a:r>
              <a:t>Sensors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91640" y="1947672"/>
            <a:ext cx="3108960" cy="1344168"/>
          </a:xfrm>
          <a:prstGeom prst="line">
            <a:avLst/>
          </a:prstGeom>
          <a:ln w="25400">
            <a:solidFill>
              <a:srgbClr val="00B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14400" y="4160520"/>
            <a:ext cx="777240" cy="777240"/>
          </a:xfrm>
          <a:prstGeom prst="ellipse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8182A"/>
                </a:solidFill>
              </a:defRPr>
            </a:pPr>
            <a:r>
              <a:t>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8182A"/>
                </a:solidFill>
              </a:defRPr>
            </a:pPr>
            <a:r>
              <a:t>Machines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691640" y="3291840"/>
            <a:ext cx="3108960" cy="1261872"/>
          </a:xfrm>
          <a:prstGeom prst="line">
            <a:avLst/>
          </a:prstGeom>
          <a:ln w="25400">
            <a:solidFill>
              <a:srgbClr val="00B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961120" y="1554480"/>
            <a:ext cx="777240" cy="777240"/>
          </a:xfrm>
          <a:prstGeom prst="ellipse">
            <a:avLst/>
          </a:prstGeom>
          <a:solidFill>
            <a:srgbClr val="F5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0" y="155448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8182A"/>
                </a:solidFill>
              </a:defRPr>
            </a:pPr>
            <a:r>
              <a:t>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42316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8182A"/>
                </a:solidFill>
              </a:defRPr>
            </a:pPr>
            <a:r>
              <a:t>Network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269480" y="1947672"/>
            <a:ext cx="1691640" cy="1344168"/>
          </a:xfrm>
          <a:prstGeom prst="line">
            <a:avLst/>
          </a:prstGeom>
          <a:ln w="25400">
            <a:solidFill>
              <a:srgbClr val="00B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961120" y="4160520"/>
            <a:ext cx="777240" cy="777240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0" y="416052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8182A"/>
                </a:solidFill>
              </a:defRPr>
            </a:pPr>
            <a:r>
              <a:t>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502920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8182A"/>
                </a:solidFill>
              </a:defRPr>
            </a:pPr>
            <a:r>
              <a:t>Analytics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7269480" y="3291840"/>
            <a:ext cx="1691640" cy="1261872"/>
          </a:xfrm>
          <a:prstGeom prst="line">
            <a:avLst/>
          </a:prstGeom>
          <a:ln w="25400">
            <a:solidFill>
              <a:srgbClr val="00B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200" y="562356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08182A"/>
                </a:solidFill>
              </a:defRPr>
            </a:pPr>
            <a:r>
              <a:t>Sense → Communicate → Process → Optimize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828E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8182A"/>
                </a:solidFill>
              </a:defRPr>
            </a:pPr>
            <a:r>
              <a:t>Components of IIoT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64008" cy="160020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733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SENSORS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75688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Temperature, pressure, vibration, speed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64008" cy="1600200"/>
          </a:xfrm>
          <a:prstGeom prst="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6733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ACTUATORS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75688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Physical actions based on control signals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80" y="1508760"/>
            <a:ext cx="64008" cy="1600200"/>
          </a:xfrm>
          <a:prstGeom prst="rect">
            <a:avLst/>
          </a:prstGeom>
          <a:solidFill>
            <a:srgbClr val="F5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6733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MACHINES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75688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Robots, pumps, motors and controllers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566160"/>
            <a:ext cx="64008" cy="160020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730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CONNECTIVITY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133087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Wired/wireless networks and protocols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566160"/>
            <a:ext cx="64008" cy="1600200"/>
          </a:xfrm>
          <a:prstGeom prst="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3730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EDGE /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133087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Process, store and analyze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80" y="3566160"/>
            <a:ext cx="64008" cy="1600200"/>
          </a:xfrm>
          <a:prstGeom prst="rect">
            <a:avLst/>
          </a:prstGeom>
          <a:solidFill>
            <a:srgbClr val="F5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85048" y="3730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APPLICATIONS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4133087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Dashboards, alerts and automated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828E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8FCFF"/>
                </a:solidFill>
              </a:defRPr>
            </a:pPr>
            <a:r>
              <a:t>IIoT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874519" cy="2011680"/>
          </a:xfrm>
          <a:prstGeom prst="roundRect">
            <a:avLst/>
          </a:prstGeom>
          <a:solidFill>
            <a:srgbClr val="143148"/>
          </a:solidFill>
          <a:ln>
            <a:solidFill>
              <a:srgbClr val="3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98448" y="2011680"/>
            <a:ext cx="502920" cy="502920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20116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8182A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8FCFF"/>
                </a:solidFill>
              </a:defRPr>
            </a:pPr>
            <a:r>
              <a:t>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CDE1EB"/>
                </a:solidFill>
              </a:defRPr>
            </a:pPr>
            <a:r>
              <a:t>Sensors + Machines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2834640"/>
            <a:ext cx="365760" cy="0"/>
          </a:xfrm>
          <a:prstGeom prst="line">
            <a:avLst/>
          </a:prstGeom>
          <a:ln w="25400">
            <a:solidFill>
              <a:srgbClr val="00B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07791" y="1828800"/>
            <a:ext cx="1874519" cy="2011680"/>
          </a:xfrm>
          <a:prstGeom prst="roundRect">
            <a:avLst/>
          </a:prstGeom>
          <a:solidFill>
            <a:srgbClr val="143148"/>
          </a:solidFill>
          <a:ln>
            <a:solidFill>
              <a:srgbClr val="3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66159" y="2011680"/>
            <a:ext cx="502920" cy="502920"/>
          </a:xfrm>
          <a:prstGeom prst="ellipse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59" y="20116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8182A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1" y="265176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8FCFF"/>
                </a:solidFill>
              </a:defRPr>
            </a:pPr>
            <a:r>
              <a:t>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1" y="306324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CDE1EB"/>
                </a:solidFill>
              </a:defRPr>
            </a:pPr>
            <a:r>
              <a:t>Data transfer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82312" y="2834640"/>
            <a:ext cx="365760" cy="0"/>
          </a:xfrm>
          <a:prstGeom prst="line">
            <a:avLst/>
          </a:prstGeom>
          <a:ln w="25400">
            <a:solidFill>
              <a:srgbClr val="00B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75504" y="1828800"/>
            <a:ext cx="1874519" cy="2011680"/>
          </a:xfrm>
          <a:prstGeom prst="roundRect">
            <a:avLst/>
          </a:prstGeom>
          <a:solidFill>
            <a:srgbClr val="143148"/>
          </a:solidFill>
          <a:ln>
            <a:solidFill>
              <a:srgbClr val="3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33872" y="2011680"/>
            <a:ext cx="502920" cy="502920"/>
          </a:xfrm>
          <a:prstGeom prst="ellipse">
            <a:avLst/>
          </a:prstGeom>
          <a:solidFill>
            <a:srgbClr val="F5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33872" y="20116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8182A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265176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8FCFF"/>
                </a:solidFill>
              </a:defRPr>
            </a:pPr>
            <a:r>
              <a:t>EDGE / 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306324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CDE1EB"/>
                </a:solidFill>
              </a:defRPr>
            </a:pPr>
            <a:r>
              <a:t>Processing + storage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50024" y="2834640"/>
            <a:ext cx="365759" cy="0"/>
          </a:xfrm>
          <a:prstGeom prst="line">
            <a:avLst/>
          </a:prstGeom>
          <a:ln w="25400">
            <a:solidFill>
              <a:srgbClr val="00B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43215" y="1828800"/>
            <a:ext cx="1874519" cy="2011680"/>
          </a:xfrm>
          <a:prstGeom prst="roundRect">
            <a:avLst/>
          </a:prstGeom>
          <a:solidFill>
            <a:srgbClr val="143148"/>
          </a:solidFill>
          <a:ln>
            <a:solidFill>
              <a:srgbClr val="3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101583" y="2011680"/>
            <a:ext cx="502920" cy="502920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01583" y="20116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8182A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5" y="265176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8FCFF"/>
                </a:solidFill>
              </a:defRPr>
            </a:pPr>
            <a:r>
              <a:t>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375" y="306324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CDE1EB"/>
                </a:solidFill>
              </a:defRPr>
            </a:pPr>
            <a:r>
              <a:t>Insights + predictions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17735" y="2834640"/>
            <a:ext cx="365761" cy="0"/>
          </a:xfrm>
          <a:prstGeom prst="line">
            <a:avLst/>
          </a:prstGeom>
          <a:ln w="25400">
            <a:solidFill>
              <a:srgbClr val="00B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710928" y="1828800"/>
            <a:ext cx="1874519" cy="2011680"/>
          </a:xfrm>
          <a:prstGeom prst="roundRect">
            <a:avLst/>
          </a:prstGeom>
          <a:solidFill>
            <a:srgbClr val="143148"/>
          </a:solidFill>
          <a:ln>
            <a:solidFill>
              <a:srgbClr val="3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369296" y="2011680"/>
            <a:ext cx="502920" cy="502920"/>
          </a:xfrm>
          <a:prstGeom prst="ellipse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69296" y="20116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8182A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265176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8FCFF"/>
                </a:solidFill>
              </a:defRPr>
            </a:pPr>
            <a:r>
              <a:t>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306324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CDE1EB"/>
                </a:solidFill>
              </a:defRPr>
            </a:pPr>
            <a:r>
              <a:t>KPIs + alerts + decisions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4800600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CDE1EB"/>
                </a:solidFill>
              </a:defRPr>
            </a:pPr>
            <a:r>
              <a:t>Feedback and control actions can flow back to industrial equipment.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74920" y="5486400"/>
            <a:ext cx="1280160" cy="347472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74920" y="550468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8182A"/>
                </a:solidFill>
              </a:defRPr>
            </a:pPr>
            <a:r>
              <a:t>DATA 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89BAA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8182A"/>
                </a:solidFill>
              </a:defRPr>
            </a:pPr>
            <a:r>
              <a:t>Technologies used in IIoT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64008" cy="160020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733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IoT / M2M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75688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Connected device communication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64008" cy="1600200"/>
          </a:xfrm>
          <a:prstGeom prst="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6733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RFID + SENSORS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75688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Identification and measurement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80" y="1508760"/>
            <a:ext cx="64008" cy="1600200"/>
          </a:xfrm>
          <a:prstGeom prst="rect">
            <a:avLst/>
          </a:prstGeom>
          <a:solidFill>
            <a:srgbClr val="F5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6733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ETHERNET / 5G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75688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Industrial connectivity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566160"/>
            <a:ext cx="64008" cy="160020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730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EDGE +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133087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Low-latency and scalable computing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566160"/>
            <a:ext cx="64008" cy="1600200"/>
          </a:xfrm>
          <a:prstGeom prst="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3730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BIG DATA +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133087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Analytics and prediction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80" y="3566160"/>
            <a:ext cx="64008" cy="1600200"/>
          </a:xfrm>
          <a:prstGeom prst="rect">
            <a:avLst/>
          </a:prstGeom>
          <a:solidFill>
            <a:srgbClr val="F5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85048" y="3730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CYBERSECURITY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4133087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Protection of connected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828E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8182A"/>
                </a:solidFill>
              </a:defRPr>
            </a:pPr>
            <a:r>
              <a:t>Where IIoT is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iot_w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493776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508760"/>
            <a:ext cx="5760720" cy="4343400"/>
          </a:xfrm>
          <a:prstGeom prst="roundRect">
            <a:avLst/>
          </a:prstGeom>
          <a:solidFill>
            <a:srgbClr val="0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126480" y="1874519"/>
            <a:ext cx="310896" cy="310896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0" y="1874519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8182A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65376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8FCFF"/>
                </a:solidFill>
              </a:defRPr>
            </a:pPr>
            <a:r>
              <a:t>Smart manufacturing &amp; factory automation</a:t>
            </a:r>
          </a:p>
        </p:txBody>
      </p:sp>
      <p:sp>
        <p:nvSpPr>
          <p:cNvPr id="10" name="Oval 9"/>
          <p:cNvSpPr/>
          <p:nvPr/>
        </p:nvSpPr>
        <p:spPr>
          <a:xfrm>
            <a:off x="6126480" y="2450591"/>
            <a:ext cx="310896" cy="310896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2450591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8182A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4144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8FCFF"/>
                </a:solidFill>
              </a:defRPr>
            </a:pPr>
            <a:r>
              <a:t>Predictive maintenance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0" y="3026663"/>
            <a:ext cx="310896" cy="310896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3026663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8182A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1752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8FCFF"/>
                </a:solidFill>
              </a:defRPr>
            </a:pPr>
            <a:r>
              <a:t>Supply chain &amp; inventory monitoring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0" y="3602736"/>
            <a:ext cx="310896" cy="310896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360273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8182A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9359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8FCFF"/>
                </a:solidFill>
              </a:defRPr>
            </a:pPr>
            <a:r>
              <a:t>Energy &amp; utility management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0" y="4178808"/>
            <a:ext cx="310896" cy="310896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4178808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8182A"/>
                </a:solidFill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69664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8FCFF"/>
                </a:solidFill>
              </a:defRPr>
            </a:pPr>
            <a:r>
              <a:t>Industrial safety &amp; quality control</a:t>
            </a:r>
          </a:p>
        </p:txBody>
      </p:sp>
      <p:sp>
        <p:nvSpPr>
          <p:cNvPr id="22" name="Oval 21"/>
          <p:cNvSpPr/>
          <p:nvPr/>
        </p:nvSpPr>
        <p:spPr>
          <a:xfrm>
            <a:off x="6126480" y="4754879"/>
            <a:ext cx="310896" cy="310896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0" y="4754879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8182A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745736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8FCFF"/>
                </a:solidFill>
              </a:defRPr>
            </a:pPr>
            <a:r>
              <a:t>Asset tracking &amp; smart warehouses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8182A"/>
                </a:solidFill>
              </a:defRPr>
            </a:pPr>
            <a:r>
              <a:t>IIoT connects machines, cloud, analytics and people to improve industrial performance.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828E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8182A"/>
                </a:solidFill>
              </a:defRPr>
            </a:pPr>
            <a:r>
              <a:t>Predictive maintenance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6400800" cy="4343400"/>
          </a:xfrm>
          <a:prstGeom prst="roundRect">
            <a:avLst/>
          </a:prstGeom>
          <a:solidFill>
            <a:srgbClr val="0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8FCFF"/>
                </a:solidFill>
              </a:defRPr>
            </a:pPr>
            <a:r>
              <a:t>Machine health trend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5166360"/>
            <a:ext cx="5394960" cy="0"/>
          </a:xfrm>
          <a:prstGeom prst="line">
            <a:avLst/>
          </a:prstGeom>
          <a:ln w="19050">
            <a:solidFill>
              <a:srgbClr val="82A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97280" y="2331720"/>
            <a:ext cx="0" cy="2834640"/>
          </a:xfrm>
          <a:prstGeom prst="line">
            <a:avLst/>
          </a:prstGeom>
          <a:ln w="19050">
            <a:solidFill>
              <a:srgbClr val="82A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88720" y="4617720"/>
            <a:ext cx="731520" cy="182880"/>
          </a:xfrm>
          <a:prstGeom prst="line">
            <a:avLst/>
          </a:prstGeom>
          <a:ln w="31750">
            <a:solidFill>
              <a:srgbClr val="37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920240" y="4480560"/>
            <a:ext cx="731520" cy="137160"/>
          </a:xfrm>
          <a:prstGeom prst="line">
            <a:avLst/>
          </a:prstGeom>
          <a:ln w="31750">
            <a:solidFill>
              <a:srgbClr val="37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651760" y="4297680"/>
            <a:ext cx="731520" cy="182880"/>
          </a:xfrm>
          <a:prstGeom prst="line">
            <a:avLst/>
          </a:prstGeom>
          <a:ln w="31750">
            <a:solidFill>
              <a:srgbClr val="37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83280" y="3886200"/>
            <a:ext cx="731520" cy="411480"/>
          </a:xfrm>
          <a:prstGeom prst="line">
            <a:avLst/>
          </a:prstGeom>
          <a:ln w="31750">
            <a:solidFill>
              <a:srgbClr val="37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114800" y="3383280"/>
            <a:ext cx="731520" cy="502920"/>
          </a:xfrm>
          <a:prstGeom prst="line">
            <a:avLst/>
          </a:prstGeom>
          <a:ln w="31750">
            <a:solidFill>
              <a:srgbClr val="37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846320" y="2743200"/>
            <a:ext cx="731520" cy="640080"/>
          </a:xfrm>
          <a:prstGeom prst="line">
            <a:avLst/>
          </a:prstGeom>
          <a:ln w="31750">
            <a:solidFill>
              <a:srgbClr val="37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577840" y="2468880"/>
            <a:ext cx="731520" cy="274320"/>
          </a:xfrm>
          <a:prstGeom prst="line">
            <a:avLst/>
          </a:prstGeom>
          <a:ln w="31750">
            <a:solidFill>
              <a:srgbClr val="37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43000" y="534924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4CDD7"/>
                </a:solidFill>
              </a:defRPr>
            </a:pPr>
            <a:r>
              <a:t>NORMAL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196596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5A046"/>
                </a:solidFill>
              </a:defRPr>
            </a:pPr>
            <a: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600200"/>
            <a:ext cx="4114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60920" y="1600200"/>
            <a:ext cx="64008" cy="114300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62088" y="1764792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2167128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Sensors continuously monitor machine conditions.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926080"/>
            <a:ext cx="4114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60920" y="2926080"/>
            <a:ext cx="64008" cy="1143000"/>
          </a:xfrm>
          <a:prstGeom prst="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62088" y="3090672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3493008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Vibration, temperature and pressure signals are analyzed.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251960"/>
            <a:ext cx="4114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60920" y="4251960"/>
            <a:ext cx="64008" cy="1143000"/>
          </a:xfrm>
          <a:prstGeom prst="rect">
            <a:avLst/>
          </a:prstGeom>
          <a:solidFill>
            <a:srgbClr val="F5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62088" y="4416552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PREVENT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2088" y="4818888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Maintenance can be planned before major failures.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828E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8182A"/>
                </a:solidFill>
              </a:defRPr>
            </a:pPr>
            <a:r>
              <a:t>Advantages of IIoT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64008" cy="160020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733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PRODUCTIVITY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75688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Improve operational efficiency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64008" cy="1600200"/>
          </a:xfrm>
          <a:prstGeom prst="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6733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75688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Real-time 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80" y="1508760"/>
            <a:ext cx="64008" cy="1600200"/>
          </a:xfrm>
          <a:prstGeom prst="rect">
            <a:avLst/>
          </a:prstGeom>
          <a:solidFill>
            <a:srgbClr val="F5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6733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DOWNTIME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75688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Reduce unplanned downtime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566160"/>
            <a:ext cx="64008" cy="160020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730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133087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Improve consistency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566160"/>
            <a:ext cx="64008" cy="1600200"/>
          </a:xfrm>
          <a:prstGeom prst="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3730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133087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Faster data-driven decisions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80" y="3566160"/>
            <a:ext cx="64008" cy="1600200"/>
          </a:xfrm>
          <a:prstGeom prst="rect">
            <a:avLst/>
          </a:prstGeom>
          <a:solidFill>
            <a:srgbClr val="F5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85048" y="3730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4133087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Continuous monitoring supports 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828E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8182A"/>
                </a:solidFill>
              </a:defRPr>
            </a:pPr>
            <a:r>
              <a:t>Challenges of IIoT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64008" cy="1600200"/>
          </a:xfrm>
          <a:prstGeom prst="rect">
            <a:avLst/>
          </a:prstGeom>
          <a:solidFill>
            <a:srgbClr val="F5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733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75688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Connected industrial systems increase security exposure.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64008" cy="160020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6733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LEGACY MACHINES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75688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Older equipment may be difficult to integrate.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5087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80" y="1508760"/>
            <a:ext cx="64008" cy="1600200"/>
          </a:xfrm>
          <a:prstGeom prst="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67335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DATA 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75688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Large data streams require efficient storage and processing.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566160"/>
            <a:ext cx="64008" cy="1600200"/>
          </a:xfrm>
          <a:prstGeom prst="rect">
            <a:avLst/>
          </a:prstGeom>
          <a:solidFill>
            <a:srgbClr val="F5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730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CONNECTIVITY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133087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Critical operations may require reliable low-latency networks.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566160"/>
            <a:ext cx="64008" cy="1600200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3730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133087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Initial deployment and integration can be expensive.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80" y="3566160"/>
            <a:ext cx="64008" cy="1600200"/>
          </a:xfrm>
          <a:prstGeom prst="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85048" y="3730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182A"/>
                </a:solidFill>
              </a:defRPr>
            </a:pPr>
            <a:r>
              <a:t>SKILLS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4133087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644"/>
                </a:solidFill>
              </a:defRPr>
            </a:pPr>
            <a:r>
              <a:t>Industrial, networking and data expertise is needed.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828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8182A"/>
                </a:solidFill>
              </a:defRPr>
            </a:pPr>
            <a: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417320"/>
            <a:ext cx="438912" cy="438912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8182A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4475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8182A"/>
                </a:solidFill>
              </a:defRPr>
            </a:pPr>
            <a:r>
              <a:t>More autonomous and intelligent factories</a:t>
            </a:r>
          </a:p>
        </p:txBody>
      </p:sp>
      <p:sp>
        <p:nvSpPr>
          <p:cNvPr id="8" name="Oval 7"/>
          <p:cNvSpPr/>
          <p:nvPr/>
        </p:nvSpPr>
        <p:spPr>
          <a:xfrm>
            <a:off x="6309360" y="1417320"/>
            <a:ext cx="438912" cy="438912"/>
          </a:xfrm>
          <a:prstGeom prst="ellipse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41732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8182A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44475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8182A"/>
                </a:solidFill>
              </a:defRPr>
            </a:pPr>
            <a:r>
              <a:t>Advanced AI-based predictive maintenance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514600"/>
            <a:ext cx="438912" cy="438912"/>
          </a:xfrm>
          <a:prstGeom prst="ellipse">
            <a:avLst/>
          </a:prstGeom>
          <a:solidFill>
            <a:srgbClr val="F5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8182A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4203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8182A"/>
                </a:solidFill>
              </a:defRPr>
            </a:pPr>
            <a:r>
              <a:t>Digital twins for equipment and production processes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2514600"/>
            <a:ext cx="438912" cy="438912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251460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8182A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54203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8182A"/>
                </a:solidFill>
              </a:defRPr>
            </a:pPr>
            <a:r>
              <a:t>5G and other high-speed industrial connectivity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611880"/>
            <a:ext cx="438912" cy="438912"/>
          </a:xfrm>
          <a:prstGeom prst="ellipse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6118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8182A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63931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8182A"/>
                </a:solidFill>
              </a:defRPr>
            </a:pPr>
            <a:r>
              <a:t>Greater use of edge AI for low-latency decisions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3611880"/>
            <a:ext cx="438912" cy="438912"/>
          </a:xfrm>
          <a:prstGeom prst="ellipse">
            <a:avLst/>
          </a:prstGeom>
          <a:solidFill>
            <a:srgbClr val="F5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36118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8182A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63931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8182A"/>
                </a:solidFill>
              </a:defRPr>
            </a:pPr>
            <a:r>
              <a:t>Stronger cybersecurity and zero-trust approaches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709159"/>
            <a:ext cx="438912" cy="438912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709159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8182A"/>
                </a:solidFill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73659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8182A"/>
                </a:solidFill>
              </a:defRPr>
            </a:pPr>
            <a:r>
              <a:t>More connected robots, machines and supply chains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3828E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8FCFF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914400" cy="54864"/>
          </a:xfrm>
          <a:prstGeom prst="rect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F8FCFF"/>
                </a:solidFill>
              </a:defRPr>
            </a:pPr>
            <a:r>
              <a:t>IIoT transforms industrial data into useful information and intelligent action.</a:t>
            </a:r>
          </a:p>
        </p:txBody>
      </p:sp>
      <p:sp>
        <p:nvSpPr>
          <p:cNvPr id="6" name="Oval 5"/>
          <p:cNvSpPr/>
          <p:nvPr/>
        </p:nvSpPr>
        <p:spPr>
          <a:xfrm>
            <a:off x="1691640" y="2514600"/>
            <a:ext cx="685800" cy="685800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251460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8182A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8FCFF"/>
                </a:solidFill>
              </a:defRPr>
            </a:pPr>
            <a:r>
              <a:t>CONNECT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2852928"/>
            <a:ext cx="731520" cy="0"/>
          </a:xfrm>
          <a:prstGeom prst="line">
            <a:avLst/>
          </a:prstGeom>
          <a:ln w="25400">
            <a:solidFill>
              <a:srgbClr val="9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434840" y="2514600"/>
            <a:ext cx="685800" cy="685800"/>
          </a:xfrm>
          <a:prstGeom prst="ellipse">
            <a:avLst/>
          </a:prstGeom>
          <a:solidFill>
            <a:srgbClr val="37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251460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8182A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8328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8FCFF"/>
                </a:solidFill>
              </a:defRPr>
            </a:pPr>
            <a:r>
              <a:t>MONITOR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0" y="2852928"/>
            <a:ext cx="731520" cy="0"/>
          </a:xfrm>
          <a:prstGeom prst="line">
            <a:avLst/>
          </a:prstGeom>
          <a:ln w="25400">
            <a:solidFill>
              <a:srgbClr val="9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178040" y="2514600"/>
            <a:ext cx="685800" cy="685800"/>
          </a:xfrm>
          <a:prstGeom prst="ellipse">
            <a:avLst/>
          </a:prstGeom>
          <a:solidFill>
            <a:srgbClr val="F5A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8182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8328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8FCFF"/>
                </a:solidFill>
              </a:defRPr>
            </a:pPr>
            <a:r>
              <a:t>ANALYZE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0" y="2852928"/>
            <a:ext cx="731520" cy="0"/>
          </a:xfrm>
          <a:prstGeom prst="line">
            <a:avLst/>
          </a:prstGeom>
          <a:ln w="25400">
            <a:solidFill>
              <a:srgbClr val="9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921240" y="2514600"/>
            <a:ext cx="685800" cy="685800"/>
          </a:xfrm>
          <a:prstGeom prst="ellipse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21240" y="251460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8182A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38328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8FCFF"/>
                </a:solidFill>
              </a:defRPr>
            </a:pPr>
            <a:r>
              <a:t>OPTIMIZE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572000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CDE1EB"/>
                </a:solidFill>
              </a:defRPr>
            </a:pPr>
            <a:r>
              <a:t>IIoT is a major foundation for smart manufacturing and Industry 4.0.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5394960"/>
            <a:ext cx="4069080" cy="347472"/>
          </a:xfrm>
          <a:prstGeom prst="round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69080" y="5413248"/>
            <a:ext cx="4069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8182A"/>
                </a:solidFill>
              </a:defRPr>
            </a:pPr>
            <a:r>
              <a:t>SMART • CONNECTED • DATA-DRIVEN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789BAA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503</Words>
  <Application>Microsoft Macintosh PowerPoint</Application>
  <PresentationFormat>Widescreen</PresentationFormat>
  <Paragraphs>160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Nandini Boyapati </cp:lastModifiedBy>
  <cp:revision>3</cp:revision>
  <dcterms:created xsi:type="dcterms:W3CDTF">2013-01-27T09:14:16Z</dcterms:created>
  <dcterms:modified xsi:type="dcterms:W3CDTF">2026-08-21T04:06:59Z</dcterms:modified>
  <cp:category/>
</cp:coreProperties>
</file>